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del caso portafolio de título Literatus Novelist: plataforma web de lectura interactiva de obras literarias de dominio público.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Contexto: el producto reúne catálogo, biblioteca, lector, IA conversacional, TTS y herramientas de administración editorial.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problema no es el acceso al texto, sino la falta de acompañamiento y continuidad en la experiencia de lectura.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solución se sostiene en cuatro pilares: lectura, acompañamiento, economía interna y operación editorial.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Modelo B2C: el negocio gira en torno a la biblioteca digital y la moneda Tinta; la apertura a escritores externos es una evolución, no el alcance actual.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Primeros siete requisitos: cubren el ciclo desde el registro hasta la lectura con progreso guardado.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últimos siete requisitos: apoyos a la comprensión y las herramientas de administración editorial.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caso de uso está trazado a un requisito funcional; la vista por actor muestra el peso del rol Lector en el alcance.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diagrama separa los casos accesibles al visitante, los propios del lector autenticado y los del administrador.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Nueve requerimientos no funcionales que condicionan la arquitectura: seguridad, integridad transaccional y escalabilidad son los críticos.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evolución se evalúa sobre la base del producto actual; ninguna de estas líneas forma parte del alcance comprometido.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síntesis de la propuesta de valor del proyecto.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89320" y="-1051560"/>
            <a:ext cx="4206240" cy="4206240"/>
          </a:xfrm>
          <a:prstGeom prst="ellipse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03720" y="2331720"/>
            <a:ext cx="2286000" cy="2286000"/>
          </a:xfrm>
          <a:prstGeom prst="ellipse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1704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PORTAFOLIO DE TÍTULO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536192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Literatus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359152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i="1" dirty="0">
                <a:solidFill>
                  <a:srgbClr val="9B9B9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Novelist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502920" y="3310128"/>
            <a:ext cx="1005840" cy="18288"/>
          </a:xfrm>
          <a:prstGeom prst="rect">
            <a:avLst/>
          </a:prstGeom>
          <a:solidFill>
            <a:srgbClr val="6E6E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345643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web de lectura interactiva de obras literarias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422452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Integrantes:  Luis Faundes  ·  Eithan Santibañez  ·  Matias Morales  ·  Christopher Guerrero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2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14630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CONTEXTO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38404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Qué es Literatus Novelist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15568"/>
            <a:ext cx="3977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web de lectura interactiva orientada a acercar obras literarias —especialmente clásicos de dominio público— a lectores que buscan una experiencia digital más guiada.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395728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integra en un mismo producto seis componentes que hoy suelen estar dispersos.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115568"/>
            <a:ext cx="18288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EDC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01184" y="1271016"/>
            <a:ext cx="237744" cy="23774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01184" y="12710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5212080" y="1243584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901184" y="155448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Obras, autores y géneros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766560" y="1115568"/>
            <a:ext cx="18288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EDC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12864" y="1271016"/>
            <a:ext cx="237744" cy="23774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12864" y="12710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7223760" y="1243584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personal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912864" y="155448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Ediciones adquiridas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2139696"/>
            <a:ext cx="18288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EDC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01184" y="2295144"/>
            <a:ext cx="237744" cy="23774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901184" y="229514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5212080" y="226771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Lector por capítulos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901184" y="257860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progreso persistente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766560" y="2139696"/>
            <a:ext cx="18288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EDC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12864" y="2295144"/>
            <a:ext cx="237744" cy="23774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912864" y="229514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7223760" y="226771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Personajes con IA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912864" y="257860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Conversación y contexto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54880" y="3163824"/>
            <a:ext cx="18288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EDC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01184" y="3319272"/>
            <a:ext cx="237744" cy="23774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901184" y="33192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5212080" y="329184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Narración por voz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4901184" y="360273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asistida (TTS)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766560" y="3163824"/>
            <a:ext cx="18288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EDCD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912864" y="3319272"/>
            <a:ext cx="237744" cy="23774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912864" y="33192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7223760" y="329184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Administración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6912864" y="360273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editorial y métricas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502920" y="47594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Literatus Novelist</a:t>
            </a:r>
            <a:endParaRPr lang="en-US" sz="850" dirty="0"/>
          </a:p>
        </p:txBody>
      </p:sp>
      <p:sp>
        <p:nvSpPr>
          <p:cNvPr id="37" name="Text 35"/>
          <p:cNvSpPr txBox="1"/>
          <p:nvPr/>
        </p:nvSpPr>
        <p:spPr>
          <a:xfrm>
            <a:off x="7726680" y="47594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14630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PROBLEMA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La lectura de textos extensos compite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 entornos digitales dinámicos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627632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clásicos y los textos largos resultan poco atractivos y difíciles de abordar para usuarios acostumbrados a la inmediatez digital.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633472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 requiere una experiencia que acompañe la lectura sin reemplazar el valor del texto original.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0" y="1161288"/>
            <a:ext cx="3154680" cy="987552"/>
          </a:xfrm>
          <a:prstGeom prst="roundRect">
            <a:avLst>
              <a:gd name="adj" fmla="val 5556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4A4A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715000" y="1307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Descubrir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715000" y="163677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Facilitar el hallazgo de obras relevantes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0" y="2276856"/>
            <a:ext cx="3154680" cy="987552"/>
          </a:xfrm>
          <a:prstGeom prst="roundRect">
            <a:avLst>
              <a:gd name="adj" fmla="val 5556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4A4A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715000" y="2423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Acompañar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715000" y="275234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Apoyos de comprensión durante la lectura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0" y="3392424"/>
            <a:ext cx="3154680" cy="987552"/>
          </a:xfrm>
          <a:prstGeom prst="roundRect">
            <a:avLst>
              <a:gd name="adj" fmla="val 5556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4A4A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715000" y="35387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Conservar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715000" y="386791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Progreso, marcadores y notas persistentes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47594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Literatus Novelist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7726680" y="47594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14630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SOLUCIÓN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38404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Una aplicación de lectura interactiva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60704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administrable, biblioteca por usuario, lector de capítulos con progreso, apoyos con IA y una economía interna basada en Tinta.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700784"/>
            <a:ext cx="1901952" cy="2286000"/>
          </a:xfrm>
          <a:prstGeom prst="roundRect">
            <a:avLst>
              <a:gd name="adj" fmla="val 2885"/>
            </a:avLst>
          </a:prstGeom>
          <a:solidFill>
            <a:srgbClr val="F3F2F0"/>
          </a:solidFill>
          <a:ln w="9525">
            <a:solidFill>
              <a:srgbClr val="DEDC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088" y="1901952"/>
            <a:ext cx="310896" cy="310896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04088" y="19019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04088" y="234086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Lectura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04088" y="2688336"/>
            <a:ext cx="15179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Lector por capítulos, marcadores, resaltados, notas y progreso persistente.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87752" y="1700784"/>
            <a:ext cx="1901952" cy="2286000"/>
          </a:xfrm>
          <a:prstGeom prst="roundRect">
            <a:avLst>
              <a:gd name="adj" fmla="val 2885"/>
            </a:avLst>
          </a:prstGeom>
          <a:solidFill>
            <a:srgbClr val="F3F2F0"/>
          </a:solidFill>
          <a:ln w="9525">
            <a:solidFill>
              <a:srgbClr val="DEDC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88920" y="1901952"/>
            <a:ext cx="310896" cy="310896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788920" y="19019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788920" y="234086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Acompañar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788920" y="2688336"/>
            <a:ext cx="15179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Conversación con personajes o autores mediante IA y narración por voz.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72584" y="1700784"/>
            <a:ext cx="1901952" cy="2286000"/>
          </a:xfrm>
          <a:prstGeom prst="roundRect">
            <a:avLst>
              <a:gd name="adj" fmla="val 2885"/>
            </a:avLst>
          </a:prstGeom>
          <a:solidFill>
            <a:srgbClr val="F3F2F0"/>
          </a:solidFill>
          <a:ln w="9525">
            <a:solidFill>
              <a:srgbClr val="DEDC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73752" y="1901952"/>
            <a:ext cx="310896" cy="310896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73752" y="19019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873752" y="234086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Economía Tinta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873752" y="2688336"/>
            <a:ext cx="15179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Adquisición de obras gratuitas o compra con saldo de moneda virtual.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57416" y="1700784"/>
            <a:ext cx="1901952" cy="2286000"/>
          </a:xfrm>
          <a:prstGeom prst="roundRect">
            <a:avLst>
              <a:gd name="adj" fmla="val 2885"/>
            </a:avLst>
          </a:prstGeom>
          <a:solidFill>
            <a:srgbClr val="F3F2F0"/>
          </a:solidFill>
          <a:ln w="9525">
            <a:solidFill>
              <a:srgbClr val="DEDC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58584" y="1901952"/>
            <a:ext cx="310896" cy="310896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958584" y="19019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958584" y="234086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Operación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958584" y="2688336"/>
            <a:ext cx="15179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administrativo para catálogo, contenido editorial y métricas.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502920" y="418795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requisitos funcionales  ·  14 casos de uso  ·  9 requerimientos no funcionales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502920" y="47594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Literatus Novelist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7726680" y="47594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2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14630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MODELO DE NEGOCIO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38404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Biblioteca digital B2C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260604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EDC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2376" y="1371600"/>
            <a:ext cx="310896" cy="310896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22376" y="1371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22376" y="18105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Descubrir y adquirir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22376" y="2139696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explora el catálogo e incorpora obras a su biblioteca personal.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170432"/>
            <a:ext cx="260604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EDC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11296" y="1371600"/>
            <a:ext cx="310896" cy="310896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11296" y="1371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511296" y="18105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Moneda virtual Tinta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511296" y="2139696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 interno para adquirir contenidos o servicios asociados a la lectura.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80760" y="1170432"/>
            <a:ext cx="260604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EDC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0216" y="1371600"/>
            <a:ext cx="310896" cy="310896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00216" y="1371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300216" y="18105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Pagos con Webpay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300216" y="2139696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versión actual contempla recarga de Tinta mediante Transbank Webpay.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3218688"/>
            <a:ext cx="8138160" cy="914400"/>
          </a:xfrm>
          <a:prstGeom prst="roundRect">
            <a:avLst>
              <a:gd name="adj" fmla="val 6000"/>
            </a:avLst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34015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Sujeto a validación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367588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publicación y venta por escritores externos se considera una evolución posterior, condicionada a validación de derechos, auditoría editorial y definición comercial.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47594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Literatus Novelist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7726680" y="47594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14630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FUNCIONALIDADES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38404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Experiencia del lector · RF01–RF07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3977640" cy="713232"/>
          </a:xfrm>
          <a:prstGeom prst="rect">
            <a:avLst/>
          </a:prstGeom>
          <a:solidFill>
            <a:srgbClr val="F3F2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9224" y="1399032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9224" y="13990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RF01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316736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e inicio de sesión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554480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 funciones privadas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09160" y="1188720"/>
            <a:ext cx="3977640" cy="713232"/>
          </a:xfrm>
          <a:prstGeom prst="rect">
            <a:avLst/>
          </a:prstGeom>
          <a:solidFill>
            <a:srgbClr val="FAFA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55464" y="1399032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55464" y="13990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RF02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257800" y="1316736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Exploración y búsqueda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257800" y="1554480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Obras, autores y géneros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2920" y="2029968"/>
            <a:ext cx="3977640" cy="713232"/>
          </a:xfrm>
          <a:prstGeom prst="rect">
            <a:avLst/>
          </a:prstGeom>
          <a:solidFill>
            <a:srgbClr val="F3F2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9224" y="2240280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9224" y="2240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RF03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2157984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 de la obra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2395728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Edición, precio y disponibilidad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2029968"/>
            <a:ext cx="3977640" cy="713232"/>
          </a:xfrm>
          <a:prstGeom prst="rect">
            <a:avLst/>
          </a:prstGeom>
          <a:solidFill>
            <a:srgbClr val="FAFA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55464" y="2240280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55464" y="2240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RF04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5257800" y="2157984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Adquisición de obras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257800" y="2395728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Gratuitas o con saldo de Tinta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02920" y="2871216"/>
            <a:ext cx="3977640" cy="713232"/>
          </a:xfrm>
          <a:prstGeom prst="rect">
            <a:avLst/>
          </a:prstGeom>
          <a:solidFill>
            <a:srgbClr val="F3F2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9224" y="3081528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9224" y="30815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RF05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1051560" y="2999232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Recarga de Tinta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051560" y="3236976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Transacción vía Transbank Webpay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09160" y="2871216"/>
            <a:ext cx="3977640" cy="713232"/>
          </a:xfrm>
          <a:prstGeom prst="rect">
            <a:avLst/>
          </a:prstGeom>
          <a:solidFill>
            <a:srgbClr val="FAFA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55464" y="3081528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855464" y="30815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RF06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5257800" y="2999232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personal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257800" y="3236976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 de ediciones adquiridas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02920" y="3712464"/>
            <a:ext cx="3977640" cy="713232"/>
          </a:xfrm>
          <a:prstGeom prst="rect">
            <a:avLst/>
          </a:prstGeom>
          <a:solidFill>
            <a:srgbClr val="F3F2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9224" y="3922776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9224" y="39227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RF07</a:t>
            </a:r>
            <a:endParaRPr lang="en-US" sz="800" dirty="0"/>
          </a:p>
        </p:txBody>
      </p:sp>
      <p:sp>
        <p:nvSpPr>
          <p:cNvPr id="37" name="Text 35"/>
          <p:cNvSpPr txBox="1"/>
          <p:nvPr/>
        </p:nvSpPr>
        <p:spPr>
          <a:xfrm>
            <a:off x="1051560" y="3840480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por capítulos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1051560" y="4078224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almacenamiento del progreso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502920" y="47594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Literatus Novelist</a:t>
            </a:r>
            <a:endParaRPr lang="en-US" sz="850" dirty="0"/>
          </a:p>
        </p:txBody>
      </p:sp>
      <p:sp>
        <p:nvSpPr>
          <p:cNvPr id="40" name="Text 38"/>
          <p:cNvSpPr txBox="1"/>
          <p:nvPr/>
        </p:nvSpPr>
        <p:spPr>
          <a:xfrm>
            <a:off x="7726680" y="47594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14630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FUNCIONALIDADES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38404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Apoyos y administración · RF08–RF14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3977640" cy="713232"/>
          </a:xfrm>
          <a:prstGeom prst="rect">
            <a:avLst/>
          </a:prstGeom>
          <a:solidFill>
            <a:srgbClr val="F3F2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9224" y="1399032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9224" y="13990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RF08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316736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Marcadores y notas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554480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Resaltados y anotaciones de lectura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09160" y="1188720"/>
            <a:ext cx="3977640" cy="713232"/>
          </a:xfrm>
          <a:prstGeom prst="rect">
            <a:avLst/>
          </a:prstGeom>
          <a:solidFill>
            <a:srgbClr val="FAFA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55464" y="1399032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55464" y="13990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RF09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257800" y="1316736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con personajes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257800" y="1554480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Conversación mediante IA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2920" y="2029968"/>
            <a:ext cx="3977640" cy="713232"/>
          </a:xfrm>
          <a:prstGeom prst="rect">
            <a:avLst/>
          </a:prstGeom>
          <a:solidFill>
            <a:srgbClr val="F3F2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9224" y="2240280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9224" y="2240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RF10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2157984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Narración por voz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2395728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asistida con TTS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2029968"/>
            <a:ext cx="3977640" cy="713232"/>
          </a:xfrm>
          <a:prstGeom prst="rect">
            <a:avLst/>
          </a:prstGeom>
          <a:solidFill>
            <a:srgbClr val="FAFA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55464" y="2240280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55464" y="2240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RF11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5257800" y="2157984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y preferencias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257800" y="2395728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y opciones de visualización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02920" y="2871216"/>
            <a:ext cx="3977640" cy="713232"/>
          </a:xfrm>
          <a:prstGeom prst="rect">
            <a:avLst/>
          </a:prstGeom>
          <a:solidFill>
            <a:srgbClr val="F3F2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9224" y="3081528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9224" y="30815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RF12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1051560" y="2999232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contenido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051560" y="3236976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Libros, ediciones y capítulos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09160" y="2871216"/>
            <a:ext cx="3977640" cy="713232"/>
          </a:xfrm>
          <a:prstGeom prst="rect">
            <a:avLst/>
          </a:prstGeom>
          <a:solidFill>
            <a:srgbClr val="FAFA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55464" y="3081528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855464" y="30815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RF13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5257800" y="2999232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editorial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257800" y="3236976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Autores, géneros, categorías, avatares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02920" y="3712464"/>
            <a:ext cx="3977640" cy="713232"/>
          </a:xfrm>
          <a:prstGeom prst="rect">
            <a:avLst/>
          </a:prstGeom>
          <a:solidFill>
            <a:srgbClr val="F3F2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9224" y="3922776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9224" y="39227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RF14</a:t>
            </a:r>
            <a:endParaRPr lang="en-US" sz="800" dirty="0"/>
          </a:p>
        </p:txBody>
      </p:sp>
      <p:sp>
        <p:nvSpPr>
          <p:cNvPr id="37" name="Text 35"/>
          <p:cNvSpPr txBox="1"/>
          <p:nvPr/>
        </p:nvSpPr>
        <p:spPr>
          <a:xfrm>
            <a:off x="1051560" y="3840480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operativas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1051560" y="4078224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Catálogo, usuarios y actividad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502920" y="47594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Literatus Novelist</a:t>
            </a:r>
            <a:endParaRPr lang="en-US" sz="850" dirty="0"/>
          </a:p>
        </p:txBody>
      </p:sp>
      <p:sp>
        <p:nvSpPr>
          <p:cNvPr id="40" name="Text 38"/>
          <p:cNvSpPr txBox="1"/>
          <p:nvPr/>
        </p:nvSpPr>
        <p:spPr>
          <a:xfrm>
            <a:off x="7726680" y="47594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2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14630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CASOS DE USO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38404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Trazabilidad de casos de uso y requisitos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42416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casos CU1 a CU14 corresponden al alcance funcional actual y cada uno se vincula directamente con un requisito funcional.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2606040" cy="256032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9525">
            <a:solidFill>
              <a:srgbClr val="DEDC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04088" y="16276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Visitante / Lector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04088" y="1956816"/>
            <a:ext cx="502920" cy="13716"/>
          </a:xfrm>
          <a:prstGeom prst="rect">
            <a:avLst/>
          </a:prstGeom>
          <a:solidFill>
            <a:srgbClr val="9B9B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2066544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92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CU1 · RF01  Registro e inicio de sesión</a:t>
            </a:r>
            <a:endParaRPr lang="en-US" sz="92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2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CU2 · RF02  Explorar, filtrar y buscar</a:t>
            </a:r>
            <a:endParaRPr lang="en-US" sz="92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2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CU3 · RF03  Detalle de un libro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3291840" y="1481328"/>
            <a:ext cx="2606040" cy="256032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9525">
            <a:solidFill>
              <a:srgbClr val="DEDCD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93008" y="16276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Lector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93008" y="1956816"/>
            <a:ext cx="502920" cy="13716"/>
          </a:xfrm>
          <a:prstGeom prst="rect">
            <a:avLst/>
          </a:prstGeom>
          <a:solidFill>
            <a:srgbClr val="9B9B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93008" y="2066544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92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CU4 · RF04  Adquirir obra con Tinta</a:t>
            </a:r>
            <a:endParaRPr lang="en-US" sz="92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2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CU5 · RF05  Recargar saldo (Webpay)</a:t>
            </a:r>
            <a:endParaRPr lang="en-US" sz="92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2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CU6 · RF06  Biblioteca personal</a:t>
            </a:r>
            <a:endParaRPr lang="en-US" sz="92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2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CU7 · RF07  Leer y guardar progreso</a:t>
            </a:r>
            <a:endParaRPr lang="en-US" sz="92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2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CU8 · RF08  Marcadores y notas</a:t>
            </a:r>
            <a:endParaRPr lang="en-US" sz="92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2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CU9 · RF09  Conversar con avatar IA</a:t>
            </a:r>
            <a:endParaRPr lang="en-US" sz="92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2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CU10 · RF10  Narración de lectura</a:t>
            </a:r>
            <a:endParaRPr lang="en-US" sz="92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2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CU11 · RF11  Perfil y preferencias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6080760" y="1481328"/>
            <a:ext cx="2606040" cy="256032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9525">
            <a:solidFill>
              <a:srgbClr val="DEDCD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81928" y="16276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Administrador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81928" y="1956816"/>
            <a:ext cx="502920" cy="13716"/>
          </a:xfrm>
          <a:prstGeom prst="rect">
            <a:avLst/>
          </a:prstGeom>
          <a:solidFill>
            <a:srgbClr val="9B9B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81928" y="2066544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92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CU12 · RF12  Libros, ediciones, capítulos</a:t>
            </a:r>
            <a:endParaRPr lang="en-US" sz="92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2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CU13 · RF13  Autores, géneros, avatares</a:t>
            </a:r>
            <a:endParaRPr lang="en-US" sz="92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2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CU14 · RF14  Métricas operativas</a:t>
            </a:r>
            <a:endParaRPr lang="en-US" sz="92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47594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Literatus Novelist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7726680" y="47594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14630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CASOS DE USO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38404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Diagrama de casos de uso</a:t>
            </a:r>
            <a:endParaRPr lang="en-US" sz="3000" dirty="0"/>
          </a:p>
        </p:txBody>
      </p:sp>
      <p:pic>
        <p:nvPicPr>
          <p:cNvPr id="4" name="Image 0" descr="diagrama-gr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34440"/>
            <a:ext cx="8138160" cy="2651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20" y="40416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1. Casos de uso principales de Literatus Novelist.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47594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Literatus Novelist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7726680" y="47594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14630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REQUERIMIENTOS NO FUNCIONALES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38404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Cómo debe comportarse el sistema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2606040" cy="914400"/>
          </a:xfrm>
          <a:prstGeom prst="roundRect">
            <a:avLst>
              <a:gd name="adj" fmla="val 6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3F3F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67512" y="120700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RNF1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252728" y="118872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Seguridad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67512" y="149961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JWT, permisos por rol y protección de operaciones administrativas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91840" y="1097280"/>
            <a:ext cx="2606040" cy="914400"/>
          </a:xfrm>
          <a:prstGeom prst="roundRect">
            <a:avLst>
              <a:gd name="adj" fmla="val 6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3F3F3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56432" y="120700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RNF2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041648" y="118872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Disponibilidad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3456432" y="149961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 en entorno web con respaldo de base de datos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080760" y="1097280"/>
            <a:ext cx="2606040" cy="914400"/>
          </a:xfrm>
          <a:prstGeom prst="roundRect">
            <a:avLst>
              <a:gd name="adj" fmla="val 6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3F3F3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45352" y="120700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RNF3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6830568" y="118872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Rendimiento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245352" y="149961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Paginación y consultas optimizadas en catálogo y lector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2148840"/>
            <a:ext cx="2606040" cy="914400"/>
          </a:xfrm>
          <a:prstGeom prst="roundRect">
            <a:avLst>
              <a:gd name="adj" fmla="val 6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3F3F3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7512" y="225856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RNF4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1252728" y="224028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Usabilidad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67512" y="255117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clara, responsive y preparada para accesibilidad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91840" y="2148840"/>
            <a:ext cx="2606040" cy="914400"/>
          </a:xfrm>
          <a:prstGeom prst="roundRect">
            <a:avLst>
              <a:gd name="adj" fmla="val 6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3F3F3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456432" y="225856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RNF5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4041648" y="224028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Compatibilidad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3456432" y="255117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Navegadores modernos y dispositivos móviles vía PWA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080760" y="2148840"/>
            <a:ext cx="2606040" cy="914400"/>
          </a:xfrm>
          <a:prstGeom prst="roundRect">
            <a:avLst>
              <a:gd name="adj" fmla="val 6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3F3F3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45352" y="225856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RNF6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6830568" y="224028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Integridad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245352" y="255117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Consistencia transaccional en compras, Tinta y progreso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02920" y="3200400"/>
            <a:ext cx="2606040" cy="914400"/>
          </a:xfrm>
          <a:prstGeom prst="roundRect">
            <a:avLst>
              <a:gd name="adj" fmla="val 6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3F3F3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67512" y="331012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RNF7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1252728" y="329184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Mantenibilidad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667512" y="360273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Frontend, API, base de datos e integraciones desacopladas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91840" y="3200400"/>
            <a:ext cx="2606040" cy="914400"/>
          </a:xfrm>
          <a:prstGeom prst="roundRect">
            <a:avLst>
              <a:gd name="adj" fmla="val 6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3F3F3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456432" y="331012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RNF8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4041648" y="329184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Privacidad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3456432" y="360273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Resguardo de datos, registro de operaciones y revisión editorial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080760" y="3200400"/>
            <a:ext cx="2606040" cy="914400"/>
          </a:xfrm>
          <a:prstGeom prst="roundRect">
            <a:avLst>
              <a:gd name="adj" fmla="val 6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3F3F3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245352" y="331012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RNF9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6830568" y="329184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Escalabilidad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6245352" y="360273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libros, usuarios, proveedores de IA y medios de pago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502920" y="47594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Literatus Novelist</a:t>
            </a:r>
            <a:endParaRPr lang="en-US" sz="850" dirty="0"/>
          </a:p>
        </p:txBody>
      </p:sp>
      <p:sp>
        <p:nvSpPr>
          <p:cNvPr id="41" name="Text 39"/>
          <p:cNvSpPr txBox="1"/>
          <p:nvPr/>
        </p:nvSpPr>
        <p:spPr>
          <a:xfrm>
            <a:off x="7726680" y="47594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14630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EVOLUCIÓN DEL PRODUCTO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38404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Qué viene después del alcance actual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6070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Líneas de evolución a evaluar una vez consolidada la versión actual de la plataforma.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645920"/>
            <a:ext cx="2606040" cy="1097280"/>
          </a:xfrm>
          <a:prstGeom prst="roundRect">
            <a:avLst>
              <a:gd name="adj" fmla="val 5000"/>
            </a:avLst>
          </a:prstGeom>
          <a:solidFill>
            <a:srgbClr val="F3F2F0"/>
          </a:solidFill>
          <a:ln w="9525">
            <a:solidFill>
              <a:srgbClr val="DEDC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088" y="1847088"/>
            <a:ext cx="274320" cy="27432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04088" y="1847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1088136" y="18470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Comprensión lectora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04088" y="221284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Apoyos de accesibilidad, diccionario y resúmenes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91840" y="1645920"/>
            <a:ext cx="2606040" cy="1097280"/>
          </a:xfrm>
          <a:prstGeom prst="roundRect">
            <a:avLst>
              <a:gd name="adj" fmla="val 5000"/>
            </a:avLst>
          </a:prstGeom>
          <a:solidFill>
            <a:srgbClr val="F3F2F0"/>
          </a:solidFill>
          <a:ln w="9525">
            <a:solidFill>
              <a:srgbClr val="DEDC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93008" y="1847088"/>
            <a:ext cx="274320" cy="27432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93008" y="1847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3877056" y="18470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Control parental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3493008" y="221284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Restricciones de contenido por perfil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80760" y="1645920"/>
            <a:ext cx="2606040" cy="1097280"/>
          </a:xfrm>
          <a:prstGeom prst="roundRect">
            <a:avLst>
              <a:gd name="adj" fmla="val 5000"/>
            </a:avLst>
          </a:prstGeom>
          <a:solidFill>
            <a:srgbClr val="F3F2F0"/>
          </a:solidFill>
          <a:ln w="9525">
            <a:solidFill>
              <a:srgbClr val="DEDC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81928" y="1847088"/>
            <a:ext cx="274320" cy="27432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81928" y="1847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6665976" y="18470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Nuevos escritores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281928" y="221284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Publicación abierta con auditoría editorial previa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2920" y="2926080"/>
            <a:ext cx="2606040" cy="1097280"/>
          </a:xfrm>
          <a:prstGeom prst="roundRect">
            <a:avLst>
              <a:gd name="adj" fmla="val 5000"/>
            </a:avLst>
          </a:prstGeom>
          <a:solidFill>
            <a:srgbClr val="F3F2F0"/>
          </a:solidFill>
          <a:ln w="9525">
            <a:solidFill>
              <a:srgbClr val="DEDC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4088" y="3127248"/>
            <a:ext cx="274320" cy="27432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04088" y="31272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1088136" y="31272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Medios de pago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704088" y="349300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Alternativas adicionales a Transbank Webpay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91840" y="2926080"/>
            <a:ext cx="2606040" cy="1097280"/>
          </a:xfrm>
          <a:prstGeom prst="roundRect">
            <a:avLst>
              <a:gd name="adj" fmla="val 5000"/>
            </a:avLst>
          </a:prstGeom>
          <a:solidFill>
            <a:srgbClr val="F3F2F0"/>
          </a:solidFill>
          <a:ln w="9525">
            <a:solidFill>
              <a:srgbClr val="DEDC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93008" y="3127248"/>
            <a:ext cx="274320" cy="27432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493008" y="31272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3877056" y="31272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Ilustraciones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3493008" y="349300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visual asociado a las ediciones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80760" y="2926080"/>
            <a:ext cx="2606040" cy="1097280"/>
          </a:xfrm>
          <a:prstGeom prst="roundRect">
            <a:avLst>
              <a:gd name="adj" fmla="val 5000"/>
            </a:avLst>
          </a:prstGeom>
          <a:solidFill>
            <a:srgbClr val="F3F2F0"/>
          </a:solidFill>
          <a:ln w="9525">
            <a:solidFill>
              <a:srgbClr val="DEDCD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81928" y="3127248"/>
            <a:ext cx="274320" cy="27432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281928" y="31272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6665976" y="31272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Auditoría editorial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6281928" y="349300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formal previa a la publicación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502920" y="47594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Literatus Novelist</a:t>
            </a:r>
            <a:endParaRPr lang="en-US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7726680" y="47594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2743200"/>
            <a:ext cx="3840480" cy="3840480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160020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Literatus Novelist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239572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9B9B9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Leer acompañado, sin perder el valor del texto original.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32461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 Faundes  ·  Eithan Santibañez  ·  Matias Morales  ·  Christopher Guerrero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Literatus Novelist</dc:title>
  <dc:subject>PptxGenJS Presentation</dc:subject>
  <dc:creator>Literatus Novelist</dc:creator>
  <cp:lastModifiedBy>Literatus Novelist</cp:lastModifiedBy>
  <cp:revision>1</cp:revision>
  <dcterms:created xsi:type="dcterms:W3CDTF">2026-09-21T17:30:05Z</dcterms:created>
  <dcterms:modified xsi:type="dcterms:W3CDTF">2026-09-21T17:30:05Z</dcterms:modified>
</cp:coreProperties>
</file>